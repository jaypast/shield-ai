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ARR</c:v>
                </c:pt>
              </c:strCache>
            </c:strRef>
          </c:tx>
          <c:spPr>
            <a:solidFill>
              <a:srgbClr val="DE58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
(0.5% conv.)</c:v>
                  </c:pt>
                  <c:pt idx="1">
                    <c:v>Moderate
(2% conv.)</c:v>
                  </c:pt>
                  <c:pt idx="2">
                    <c:v>Aggressive
(5% conv.)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163</c:v>
                </c:pt>
                <c:pt idx="1">
                  <c:v>653</c:v>
                </c:pt>
                <c:pt idx="2">
                  <c:v>1630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Trebuchet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28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C2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DE5833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1097280"/>
            <a:ext cx="914400" cy="914400"/>
          </a:xfrm>
          <a:prstGeom prst="ellipse">
            <a:avLst/>
          </a:prstGeom>
          <a:solidFill>
            <a:srgbClr val="DE5833">
              <a:alpha val="20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94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Shield AI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772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E5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for QuackQuackMoo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 &amp; ROI Proposal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AI transforms QuackQuackMoo from a $100M privacy search company into a $1B+ AI platform company — using a capital-efficient buy-and-self-host strategy that reduces the build to $1.5–3M with a $15–30K validation sprint to derisk before engineering begins.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60320" cy="1463040"/>
          </a:xfrm>
          <a:prstGeom prst="rect">
            <a:avLst/>
          </a:prstGeom>
          <a:solidFill>
            <a:srgbClr val="141C2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603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80M+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41732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QQM Users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2286000"/>
            <a:ext cx="2560320" cy="1463040"/>
          </a:xfrm>
          <a:prstGeom prst="rect">
            <a:avLst/>
          </a:prstGeom>
          <a:solidFill>
            <a:srgbClr val="141C2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657600" y="2468880"/>
            <a:ext cx="457200" cy="457200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5603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$100M+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425196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Revenue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2286000"/>
            <a:ext cx="2560320" cy="1463040"/>
          </a:xfrm>
          <a:prstGeom prst="rect">
            <a:avLst/>
          </a:prstGeom>
          <a:solidFill>
            <a:srgbClr val="141C2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492240" y="2468880"/>
            <a:ext cx="457200" cy="457200"/>
          </a:xfrm>
          <a:prstGeom prst="ellipse">
            <a:avLst/>
          </a:prstGeom>
          <a:solidFill>
            <a:srgbClr val="DE5833">
              <a:alpha val="20000"/>
            </a:srgbClr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5603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8660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$87B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708660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TAM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solidFill>
            <a:srgbClr val="DE5833">
              <a:alpha val="12000"/>
            </a:srgbClr>
          </a:solidFill>
          <a:ln/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822960" y="40690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8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occupies this intersection. OpenAI and Google will never lead with privacy. Abacus AI has no privacy story. QuackQuackMoo is the only company that can credibly ship a privacy-first AI super-platform.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Strategic Gap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3474720"/>
          </a:xfrm>
          <a:prstGeom prst="rect">
            <a:avLst/>
          </a:prstGeom>
          <a:solidFill>
            <a:srgbClr val="141C2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DE5833">
              <a:alpha val="20000"/>
            </a:srgbClr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389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Market Wants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0116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multi-model AI platform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 workflows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 &amp; doc generation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Abacus AI proved demand ($10/mo, 100+ models)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749040" cy="3474720"/>
          </a:xfrm>
          <a:prstGeom prst="rect">
            <a:avLst/>
          </a:prstGeom>
          <a:solidFill>
            <a:srgbClr val="141C2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029200" y="1371600"/>
            <a:ext cx="457200" cy="457200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389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QQM Uniquely Owns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0" y="20116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privacy brand in tech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80M+ users who chose privacy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Zero-retention infrastructure in production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 contracts (OpenAI, Anthropic, Meta)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$9.99/$19.99 subscription billing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8288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E5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Shield AI = Platform Depth + Privacy Trust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Platform Pillars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Shield AI delivers beyond Quack.ai chat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59436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417320"/>
            <a:ext cx="54864" cy="594360"/>
          </a:xfrm>
          <a:prstGeom prst="rect">
            <a:avLst/>
          </a:prstGeom>
          <a:solidFill>
            <a:srgbClr val="DE583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1490472"/>
            <a:ext cx="438912" cy="438912"/>
          </a:xfrm>
          <a:prstGeom prst="ellipse">
            <a:avLst/>
          </a:prstGeom>
          <a:solidFill>
            <a:srgbClr val="DE5833">
              <a:alpha val="20000"/>
            </a:srgbClr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157825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Router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models via LiteLLM (self-hosted) + custom auto-route intelligence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RETENTION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2130552"/>
            <a:ext cx="7863840" cy="59436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40080" y="2130552"/>
            <a:ext cx="54864" cy="5943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14400" y="2203704"/>
            <a:ext cx="438912" cy="438912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82" y="229148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508760" y="2450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workflows via LangGraph (self-hosted) + 6 custom agents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8368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RETENTION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40080" y="2843784"/>
            <a:ext cx="7863840" cy="59436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640080" y="2843784"/>
            <a:ext cx="54864" cy="5943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914400" y="2916936"/>
            <a:ext cx="438912" cy="438912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  <p:txBody>
          <a:bodyPr/>
          <a:p/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82" y="3004718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08760" y="2889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Sandbox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508760" y="31638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Firecracker microVMs via E2B + zero-persistence policy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58368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RETENTION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40080" y="3557016"/>
            <a:ext cx="7863840" cy="59436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640080" y="3557016"/>
            <a:ext cx="54864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914400" y="3630168"/>
            <a:ext cx="438912" cy="438912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82" y="3717950"/>
            <a:ext cx="263347" cy="26334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08760" y="3602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 Generator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1508760" y="3877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decks, summaries via open-source rendering libraries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583680" y="3712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RETENTION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40080" y="4270248"/>
            <a:ext cx="7863840" cy="59436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33" name="Shape 27"/>
          <p:cNvSpPr/>
          <p:nvPr/>
        </p:nvSpPr>
        <p:spPr>
          <a:xfrm>
            <a:off x="640080" y="4270248"/>
            <a:ext cx="54864" cy="5943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4" name="Shape 28"/>
          <p:cNvSpPr/>
          <p:nvPr/>
        </p:nvSpPr>
        <p:spPr>
          <a:xfrm>
            <a:off x="914400" y="4343400"/>
            <a:ext cx="438912" cy="438912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  <p:txBody>
          <a:bodyPr/>
          <a:p/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182" y="4431182"/>
            <a:ext cx="263347" cy="263347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508760" y="4315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Integrations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1508760" y="45902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tools via Nango (self-hosted) + Prisma AIRS security layer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583680" y="4425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RETENTION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existing QQM tiers with new enterprise revenue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371600" cy="329184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554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Shield Free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models, basic chat, no account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21408" y="1371600"/>
            <a:ext cx="1371600" cy="329184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12848" y="1554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12848" y="1828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Shield Plus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12848" y="2240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$9.99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212848" y="2697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58568" y="3108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models, voice, VPN bundle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02736" y="1371600"/>
            <a:ext cx="1371600" cy="329184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94176" y="1554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94176" y="1828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Shield Pro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94176" y="2240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$19.99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94176" y="2697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39896" y="3108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Opus, 2x limits, priority routing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84064" y="1371600"/>
            <a:ext cx="1874520" cy="3291840"/>
          </a:xfrm>
          <a:prstGeom prst="rect">
            <a:avLst/>
          </a:prstGeom>
          <a:solidFill>
            <a:srgbClr val="141C2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084064" y="1371600"/>
            <a:ext cx="1874520" cy="54864"/>
          </a:xfrm>
          <a:prstGeom prst="rect">
            <a:avLst/>
          </a:prstGeom>
          <a:solidFill>
            <a:srgbClr val="DE5833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175504" y="15544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E5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75504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Shield Teams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75504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E5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$29.99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175504" y="26974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/user/mo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21224" y="31089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sandbox, integrations, SSO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68312" y="1371600"/>
            <a:ext cx="1874520" cy="329184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159752" y="15544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59752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Shield Enterprise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59752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$5K+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159752" y="26974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05472" y="31089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On-prem, HIPAA, custom models, SLA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Projections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188720"/>
            <a:ext cx="2743200" cy="96012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126480" y="12618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12648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E5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$163M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126480" y="18288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 current rev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2331720"/>
            <a:ext cx="2743200" cy="96012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126480" y="24048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2648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E5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$653M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126480" y="29718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6.5x current rev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3474720"/>
            <a:ext cx="2743200" cy="96012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126480" y="35478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2648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E5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$1.63B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126480" y="41148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16x current rev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  <a:gridCol w="146304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Abacus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E5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Shield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5833">
                        <a:alpha val="30000"/>
                      </a:srgbClr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(GPT)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(Gemini)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Sandbox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Integrations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Retention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Stripping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HIPAA/SOC2 Ready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(Teams)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$19.99/mo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$29.99/mo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Cost vs.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3474720"/>
          </a:xfrm>
          <a:prstGeom prst="rect">
            <a:avLst/>
          </a:prstGeom>
          <a:solidFill>
            <a:srgbClr val="141C2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1417320"/>
            <a:ext cx="457200" cy="4572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44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Shield AI v1 Cost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E5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$1.5–3M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10-person team, 6 months (70% bought)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Backend (auto-route, agents, integration wiring)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Frontend (web, mobile, browser extension)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DevOps (self-hosted stack, ephemeral compute)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Security/Compliance Lead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Product Designer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749040" cy="3474720"/>
          </a:xfrm>
          <a:prstGeom prst="rect">
            <a:avLst/>
          </a:prstGeom>
          <a:solidFill>
            <a:srgbClr val="141C2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029200" y="1417320"/>
            <a:ext cx="457200" cy="457200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087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444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Bought &amp; Self-Hosted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— model routing (open source)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agent orchestration (open source)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E2B / Firecracker — code sandbox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Nango — 250+ integrations (open source)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— observability (open source)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— vector store (open source)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AI → Prisma AIRS (security)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WorkOS + Vanta (auth + compliance)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02920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E8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Abacus raised $113M to build from scratch. Shield AI buys 70% open source, self-hosts for privacy. Vendor cost: ~$12–25K/mo.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12-Month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51560" y="1143000"/>
            <a:ext cx="36576" cy="96012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96112" y="1307592"/>
            <a:ext cx="347472" cy="347472"/>
          </a:xfrm>
          <a:prstGeom prst="ellipse">
            <a:avLst/>
          </a:prstGeom>
          <a:solidFill>
            <a:srgbClr val="DE5833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219456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54480" y="1143000"/>
            <a:ext cx="6858000" cy="77724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554480" y="1143000"/>
            <a:ext cx="45720" cy="777240"/>
          </a:xfrm>
          <a:prstGeom prst="rect">
            <a:avLst/>
          </a:prstGeom>
          <a:solidFill>
            <a:srgbClr val="DE583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783080" y="12161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E5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10896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83080" y="1463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LiteLLM + LangGraph + Guardrails AI + Langfuse + Qdrant. Ship beta to 1K users. Auto-route + 2 agents. ~$6.5K/mo vendor.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51560" y="2103120"/>
            <a:ext cx="36576" cy="96012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896112" y="2267712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331720"/>
            <a:ext cx="219456" cy="21945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554480" y="2103120"/>
            <a:ext cx="6858000" cy="77724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1554480" y="2103120"/>
            <a:ext cx="45720" cy="777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1783080" y="2176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10896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783080" y="2423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E2B sandbox, Nango integrations, WorkOS auth. 10K users. Full agent suite + team workspaces. ~$12K/mo vendor.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051560" y="3063240"/>
            <a:ext cx="36576" cy="96012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896112" y="3227832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91840"/>
            <a:ext cx="219456" cy="21945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554480" y="3063240"/>
            <a:ext cx="6858000" cy="77724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1554480" y="3063240"/>
            <a:ext cx="45720" cy="7772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1783080" y="31363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10896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783080" y="3383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Prisma AIRS + Vanta. SOC2/HIPAA cert. On-prem deployment. Enterprise sales launch. ~$20K/mo vendor.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1051560" y="4023360"/>
            <a:ext cx="36576" cy="77724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p/>
        </p:txBody>
      </p:sp>
      <p:sp>
        <p:nvSpPr>
          <p:cNvPr id="28" name="Shape 23"/>
          <p:cNvSpPr/>
          <p:nvPr/>
        </p:nvSpPr>
        <p:spPr>
          <a:xfrm>
            <a:off x="896112" y="4187952"/>
            <a:ext cx="347472" cy="34747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p/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19456" cy="219456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1554480" y="4023360"/>
            <a:ext cx="6858000" cy="777240"/>
          </a:xfrm>
          <a:prstGeom prst="rect">
            <a:avLst/>
          </a:prstGeom>
          <a:solidFill>
            <a:srgbClr val="141C2C"/>
          </a:solidFill>
          <a:ln/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1554480" y="4023360"/>
            <a:ext cx="45720" cy="77724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32" name="Text 26"/>
          <p:cNvSpPr/>
          <p:nvPr/>
        </p:nvSpPr>
        <p:spPr>
          <a:xfrm>
            <a:off x="1783080" y="40965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10–12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310896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1783080" y="4343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teams. Developer API, agent marketplace, international compliance. Self-host Firecracker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0"/>
            <a:ext cx="4572000" cy="4572000"/>
          </a:xfrm>
          <a:prstGeom prst="ellipse">
            <a:avLst/>
          </a:prstGeom>
          <a:solidFill>
            <a:srgbClr val="DE5833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794760" y="914400"/>
            <a:ext cx="731520" cy="731520"/>
          </a:xfrm>
          <a:prstGeom prst="ellipse">
            <a:avLst/>
          </a:prstGeom>
          <a:solidFill>
            <a:srgbClr val="DE5833">
              <a:alpha val="20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1064" y="106070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Bottom Line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606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AI transforms QuackQuackMoo from a </a:t>
            </a:r>
            <a:pPr algn="ctr"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 search company</a:t>
            </a:r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 </a:t>
            </a:r>
            <a:pPr algn="ctr"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DE5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$1B+ AI platform company</a:t>
            </a:r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without compromising the privacy principles that built the brand.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28800" y="3657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$1.5–3M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Conservative: $163M ARR  |  Moderate: $653M ARR  |  Validated before build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SHIELD AI  •  PREPARED FOR QUACKQUACKMOO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 AI — Pricing Model &amp; ROI Proposal for DuckDuckGo</dc:title>
  <dc:subject>PptxGenJS Presentation</dc:subject>
  <dc:creator>Shield AI</dc:creator>
  <cp:lastModifiedBy>Shield AI</cp:lastModifiedBy>
  <cp:revision>1</cp:revision>
  <dcterms:created xsi:type="dcterms:W3CDTF">2026-05-27T04:24:39Z</dcterms:created>
  <dcterms:modified xsi:type="dcterms:W3CDTF">2026-05-27T04:24:39Z</dcterms:modified>
</cp:coreProperties>
</file>