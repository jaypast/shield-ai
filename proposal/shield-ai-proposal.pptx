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ARR</c:v>
                </c:pt>
              </c:strCache>
            </c:strRef>
          </c:tx>
          <c:spPr>
            <a:solidFill>
              <a:srgbClr val="DE58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Conservative
(0.5% conv.)</c:v>
                  </c:pt>
                  <c:pt idx="1">
                    <c:v>Moderate
(2% conv.)</c:v>
                  </c:pt>
                  <c:pt idx="2">
                    <c:v>Aggressive
(5% conv.)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</c:v>
                </c:pt>
                <c:pt idx="1">
                  <c:v>653</c:v>
                </c:pt>
                <c:pt idx="2">
                  <c:v>1630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28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41C2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DE583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914400" cy="9144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94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772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DuckDuckGo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474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Model &amp; ROI Proposal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DuckDuckGo from a $100M privacy search company into a $1B+ AI platform company by adding an enterprise-grade AI execution layer on top of DDG's existing privacy infrastructure.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603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80M+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41732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DDG Users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0" y="246888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25603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51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$100M+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425196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Revenue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0936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5603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8660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$87B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708660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TAM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023360"/>
            <a:ext cx="7863840" cy="731520"/>
          </a:xfrm>
          <a:prstGeom prst="rect">
            <a:avLst/>
          </a:prstGeom>
          <a:solidFill>
            <a:srgbClr val="DE5833">
              <a:alpha val="12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40690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competitor occupies this intersection. OpenAI and Google will never lead with privacy. Abacus AI has no privacy story. DuckDuckGo is the only company that can credibly ship a privacy-first AI super-platform.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Strategic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37160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Market Wants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multi-model AI platform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 workflows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 &amp; doc generation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AI proved demand ($10/mo, 100+ models)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029200" y="137160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DDG Uniquely Owns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privacy brand in tech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 users who chose privacy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Zero-retention infrastructure in production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contracts (OpenAI, Anthropic, Meta)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$9.99/$19.99 subscription billing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82880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= Platform Depth + Privacy Trust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Platform Pillars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Shield AI delivers beyond Duck.ai chat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17320"/>
            <a:ext cx="54864" cy="594360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490472"/>
            <a:ext cx="438912" cy="438912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182" y="15782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Router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737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models with intelligent auto-routing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30552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2130552"/>
            <a:ext cx="54864" cy="594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2203704"/>
            <a:ext cx="438912" cy="438912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" y="229148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508760" y="2450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multi-step workflows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40080" y="2843784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" y="2843784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Shape 16"/>
          <p:cNvSpPr/>
          <p:nvPr/>
        </p:nvSpPr>
        <p:spPr>
          <a:xfrm>
            <a:off x="914400" y="2916936"/>
            <a:ext cx="438912" cy="438912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3004718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08760" y="2889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Sandbox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1508760" y="31638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container execution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83680" y="2999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40080" y="3557016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557016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7" name="Shape 22"/>
          <p:cNvSpPr/>
          <p:nvPr/>
        </p:nvSpPr>
        <p:spPr>
          <a:xfrm>
            <a:off x="914400" y="3630168"/>
            <a:ext cx="438912" cy="438912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3717950"/>
            <a:ext cx="263347" cy="26334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508760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Generator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1508760" y="38770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decks, and summaries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583680" y="37124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40080" y="4270248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3" name="Shape 27"/>
          <p:cNvSpPr/>
          <p:nvPr/>
        </p:nvSpPr>
        <p:spPr>
          <a:xfrm>
            <a:off x="640080" y="4270248"/>
            <a:ext cx="54864" cy="594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4" name="Shape 28"/>
          <p:cNvSpPr/>
          <p:nvPr/>
        </p:nvSpPr>
        <p:spPr>
          <a:xfrm>
            <a:off x="914400" y="4343400"/>
            <a:ext cx="438912" cy="438912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" y="4431182"/>
            <a:ext cx="263347" cy="263347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508760" y="4315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600" dirty="0"/>
          </a:p>
        </p:txBody>
      </p:sp>
      <p:sp>
        <p:nvSpPr>
          <p:cNvPr id="37" name="Text 30"/>
          <p:cNvSpPr/>
          <p:nvPr/>
        </p:nvSpPr>
        <p:spPr>
          <a:xfrm>
            <a:off x="1508760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Drive, GitHub, Jira + 50 more</a:t>
            </a:r>
            <a:endParaRPr lang="en-US" sz="1200" dirty="0"/>
          </a:p>
        </p:txBody>
      </p:sp>
      <p:sp>
        <p:nvSpPr>
          <p:cNvPr id="38" name="Text 31"/>
          <p:cNvSpPr/>
          <p:nvPr/>
        </p:nvSpPr>
        <p:spPr>
          <a:xfrm>
            <a:off x="6583680" y="4425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existing DDG tiers with new enterprise revenue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models, basic chat, no account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21408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12848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Plus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12848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$9.99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58568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models, voice, VPN bundle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02736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7" name="Text 15"/>
          <p:cNvSpPr/>
          <p:nvPr/>
        </p:nvSpPr>
        <p:spPr>
          <a:xfrm>
            <a:off x="3694176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94176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94176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$19.99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694176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39896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2x limits, priority routing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84064" y="1371600"/>
            <a:ext cx="1874520" cy="32918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84064" y="1371600"/>
            <a:ext cx="1874520" cy="54864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24" name="Text 22"/>
          <p:cNvSpPr/>
          <p:nvPr/>
        </p:nvSpPr>
        <p:spPr>
          <a:xfrm>
            <a:off x="5175504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75504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Teams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75504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$29.99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175504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/user/mo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21224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sandbox, integrations, SSO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68312" y="1371600"/>
            <a:ext cx="187452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0" name="Text 28"/>
          <p:cNvSpPr/>
          <p:nvPr/>
        </p:nvSpPr>
        <p:spPr>
          <a:xfrm>
            <a:off x="7159752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159752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Enterprise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59752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$5K+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159752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05472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On-prem, HIPAA, custom models, SLA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Projections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09728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Text 2"/>
          <p:cNvSpPr/>
          <p:nvPr/>
        </p:nvSpPr>
        <p:spPr>
          <a:xfrm>
            <a:off x="6126480" y="1261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12648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$163M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126480" y="1828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 current rev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331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2404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$653M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2971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 current rev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474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3547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$1.63B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4114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16x current rev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Abacus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E5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5833">
                        <a:alpha val="3000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(GPT)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Sandbox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Integrations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Retention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Stripping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HIPAA/SOC2 Ready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(Teams)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Cost vs. Opportunity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v1 Cost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$2–4M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12-person team, 6 months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Backend Engineers (routing, agents, containers)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Frontend Engineers (web, mobile, extension)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Infra Engineers (ephemeral compute, encryption)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Security/Compliance Lead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Product Manager + 1 Designer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41732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087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DDG Already Has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0116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Anonymization relay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PII-stripping pipeline (in production)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billing system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mobile distribution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contracts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 + legal framework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029200" y="3931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AI raised $113M to build their platform from scratch. Shield AI leverages existing DDG infrastructure at 2–3% of that cost.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12-Month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14300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307592"/>
            <a:ext cx="347472" cy="347472"/>
          </a:xfrm>
          <a:prstGeom prst="ellipse">
            <a:avLst/>
          </a:prstGeom>
          <a:solidFill>
            <a:srgbClr val="DE583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71600"/>
            <a:ext cx="219456" cy="219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54480" y="114300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7" name="Shape 4"/>
          <p:cNvSpPr/>
          <p:nvPr/>
        </p:nvSpPr>
        <p:spPr>
          <a:xfrm>
            <a:off x="1554480" y="1143000"/>
            <a:ext cx="45720" cy="777240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8" name="Text 5"/>
          <p:cNvSpPr/>
          <p:nvPr/>
        </p:nvSpPr>
        <p:spPr>
          <a:xfrm>
            <a:off x="1783080" y="12161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10896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783080" y="1463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Teams beta to 1K users. Multi-model router, basic agents, code sandbox, privacy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51560" y="210312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12" name="Shape 9"/>
          <p:cNvSpPr/>
          <p:nvPr/>
        </p:nvSpPr>
        <p:spPr>
          <a:xfrm>
            <a:off x="896112" y="2267712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219456" cy="2194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554480" y="210312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5" name="Shape 11"/>
          <p:cNvSpPr/>
          <p:nvPr/>
        </p:nvSpPr>
        <p:spPr>
          <a:xfrm>
            <a:off x="1554480" y="2103120"/>
            <a:ext cx="45720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21762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10896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783080" y="2423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10K users. Full agent suite, 50+ integrations, team workspaces, SSO/SAML.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1051560" y="306324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20" name="Shape 16"/>
          <p:cNvSpPr/>
          <p:nvPr/>
        </p:nvSpPr>
        <p:spPr>
          <a:xfrm>
            <a:off x="896112" y="3227832"/>
            <a:ext cx="347472" cy="347472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219456" cy="21945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554480" y="306324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23" name="Shape 18"/>
          <p:cNvSpPr/>
          <p:nvPr/>
        </p:nvSpPr>
        <p:spPr>
          <a:xfrm>
            <a:off x="1554480" y="3063240"/>
            <a:ext cx="45720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19"/>
          <p:cNvSpPr/>
          <p:nvPr/>
        </p:nvSpPr>
        <p:spPr>
          <a:xfrm>
            <a:off x="1783080" y="31363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7–9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108960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783080" y="3383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Shield Enterprise. SOC2 + HIPAA cert, on-prem deployment, custom model fine-tuning.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1051560" y="4023360"/>
            <a:ext cx="36576" cy="77724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28" name="Shape 23"/>
          <p:cNvSpPr/>
          <p:nvPr/>
        </p:nvSpPr>
        <p:spPr>
          <a:xfrm>
            <a:off x="896112" y="4187952"/>
            <a:ext cx="347472" cy="347472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554480" y="402336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1" name="Shape 25"/>
          <p:cNvSpPr/>
          <p:nvPr/>
        </p:nvSpPr>
        <p:spPr>
          <a:xfrm>
            <a:off x="1554480" y="4023360"/>
            <a:ext cx="45720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2" name="Text 26"/>
          <p:cNvSpPr/>
          <p:nvPr/>
        </p:nvSpPr>
        <p:spPr>
          <a:xfrm>
            <a:off x="1783080" y="40965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3108960" y="4069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178308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teams. Developer API, agent marketplace, international compliance (EU AI Act, UK ICO).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0"/>
            <a:ext cx="4572000" cy="4572000"/>
          </a:xfrm>
          <a:prstGeom prst="ellipse">
            <a:avLst/>
          </a:prstGeom>
          <a:solidFill>
            <a:srgbClr val="DE5833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94760" y="914400"/>
            <a:ext cx="731520" cy="73152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1060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Bottom Line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371600" y="26060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DuckDuckGo from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 search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$1B+ AI platform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without compromising the privacy principles that built the brand.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$2–4M</a:t>
            </a:r>
            <a:endParaRPr lang="en-US" sz="13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Return: $163M ARR  |  Moderate: $653M ARR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SHIELD AI  •  PREPARED FOR DUCKDUCKGO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 AI — Pricing Model &amp; ROI Proposal for DuckDuckGo</dc:title>
  <dc:subject>PptxGenJS Presentation</dc:subject>
  <dc:creator>Shield AI</dc:creator>
  <cp:lastModifiedBy>Shield AI</cp:lastModifiedBy>
  <cp:revision>1</cp:revision>
  <dcterms:created xsi:type="dcterms:W3CDTF">2026-05-27T02:49:51Z</dcterms:created>
  <dcterms:modified xsi:type="dcterms:W3CDTF">2026-05-27T02:49:51Z</dcterms:modified>
</cp:coreProperties>
</file>