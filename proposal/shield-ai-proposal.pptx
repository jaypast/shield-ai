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ARR</c:v>
                </c:pt>
              </c:strCache>
            </c:strRef>
          </c:tx>
          <c:spPr>
            <a:solidFill>
              <a:srgbClr val="DE58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Trebuchet M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Conservative
(0.5% conv.)</c:v>
                  </c:pt>
                  <c:pt idx="1">
                    <c:v>Moderate
(2% conv.)</c:v>
                  </c:pt>
                  <c:pt idx="2">
                    <c:v>Aggressive
(5% conv.)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163</c:v>
                </c:pt>
                <c:pt idx="1">
                  <c:v>653</c:v>
                </c:pt>
                <c:pt idx="2">
                  <c:v>1630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FFFFFF"/>
                  </a:solidFill>
                  <a:latin typeface="Trebuchet M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C284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141C2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371600"/>
            <a:ext cx="4572000" cy="4572000"/>
          </a:xfrm>
          <a:prstGeom prst="ellipse">
            <a:avLst/>
          </a:prstGeom>
          <a:solidFill>
            <a:srgbClr val="DE5833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097280"/>
            <a:ext cx="914400" cy="914400"/>
          </a:xfrm>
          <a:prstGeom prst="ellipse">
            <a:avLst/>
          </a:prstGeom>
          <a:solidFill>
            <a:srgbClr val="DE5833">
              <a:alpha val="20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280160"/>
            <a:ext cx="54864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21945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Shield AI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77724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DE5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DuckDuckGo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31520" y="3474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Model &amp; ROI Proposal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3152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Executive Summary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Shield AI transforms DuckDuckGo from a $100M privacy search company into a $1B+ AI platform company — using a capital-efficient buy-and-self-host strategy that reduces the build to $1.5–3M with a $15–30K validation sprint to derisk before engineering begins.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2560320" cy="1463040"/>
          </a:xfrm>
          <a:prstGeom prst="rect">
            <a:avLst/>
          </a:prstGeom>
          <a:solidFill>
            <a:srgbClr val="141C2C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468880"/>
            <a:ext cx="457200" cy="457200"/>
          </a:xfrm>
          <a:prstGeom prst="ellipse">
            <a:avLst/>
          </a:prstGeom>
          <a:solidFill>
            <a:srgbClr val="3B82F6">
              <a:alpha val="20000"/>
            </a:srgbClr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56032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2423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80M+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141732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DDG Users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474720" y="2286000"/>
            <a:ext cx="2560320" cy="1463040"/>
          </a:xfrm>
          <a:prstGeom prst="rect">
            <a:avLst/>
          </a:prstGeom>
          <a:solidFill>
            <a:srgbClr val="141C2C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57600" y="2468880"/>
            <a:ext cx="457200" cy="457200"/>
          </a:xfrm>
          <a:prstGeom prst="ellipse">
            <a:avLst/>
          </a:prstGeom>
          <a:solidFill>
            <a:srgbClr val="22C55E">
              <a:alpha val="20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256032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251960" y="2423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$100M+</a:t>
            </a:r>
            <a:endParaRPr lang="en-US" sz="2800" dirty="0"/>
          </a:p>
        </p:txBody>
      </p:sp>
      <p:sp>
        <p:nvSpPr>
          <p:cNvPr id="13" name="Text 9"/>
          <p:cNvSpPr/>
          <p:nvPr/>
        </p:nvSpPr>
        <p:spPr>
          <a:xfrm>
            <a:off x="425196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Revenue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309360" y="2286000"/>
            <a:ext cx="2560320" cy="1463040"/>
          </a:xfrm>
          <a:prstGeom prst="rect">
            <a:avLst/>
          </a:prstGeom>
          <a:solidFill>
            <a:srgbClr val="141C2C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92240" y="2468880"/>
            <a:ext cx="457200" cy="457200"/>
          </a:xfrm>
          <a:prstGeom prst="ellipse">
            <a:avLst/>
          </a:prstGeom>
          <a:solidFill>
            <a:srgbClr val="DE5833">
              <a:alpha val="20000"/>
            </a:srgbClr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56032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086600" y="24231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$87B</a:t>
            </a:r>
            <a:endParaRPr lang="en-US" sz="2800" dirty="0"/>
          </a:p>
        </p:txBody>
      </p:sp>
      <p:sp>
        <p:nvSpPr>
          <p:cNvPr id="18" name="Text 13"/>
          <p:cNvSpPr/>
          <p:nvPr/>
        </p:nvSpPr>
        <p:spPr>
          <a:xfrm>
            <a:off x="7086600" y="2880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TAM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40080" y="4023360"/>
            <a:ext cx="7863840" cy="731520"/>
          </a:xfrm>
          <a:prstGeom prst="rect">
            <a:avLst/>
          </a:prstGeom>
          <a:solidFill>
            <a:srgbClr val="DE5833">
              <a:alpha val="12000"/>
            </a:srgbClr>
          </a:solidFill>
          <a:ln/>
        </p:spPr>
      </p:sp>
      <p:sp>
        <p:nvSpPr>
          <p:cNvPr id="20" name="Text 15"/>
          <p:cNvSpPr/>
          <p:nvPr/>
        </p:nvSpPr>
        <p:spPr>
          <a:xfrm>
            <a:off x="822960" y="406908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E87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competitor occupies this intersection. OpenAI and Google will never lead with privacy. Abacus AI has no privacy story. DuckDuckGo is the only company that can credibly ship a privacy-first AI super-platform.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Strategic Gap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3749040" cy="3474720"/>
          </a:xfrm>
          <a:prstGeom prst="rect">
            <a:avLst/>
          </a:prstGeom>
          <a:solidFill>
            <a:srgbClr val="141C2C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371600"/>
            <a:ext cx="457200" cy="457200"/>
          </a:xfrm>
          <a:prstGeom prst="ellipse">
            <a:avLst/>
          </a:prstGeom>
          <a:solidFill>
            <a:srgbClr val="DE5833">
              <a:alpha val="20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463040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38988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the Market Wants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14400" y="201168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multi-model AI platform</a:t>
            </a:r>
            <a:endParaRPr lang="en-US" sz="13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agent workflows</a:t>
            </a:r>
            <a:endParaRPr lang="en-US" sz="13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execution &amp; doc generation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integrations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Abacus AI proved demand ($10/mo, 100+ models)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754880" y="1188720"/>
            <a:ext cx="3749040" cy="3474720"/>
          </a:xfrm>
          <a:prstGeom prst="rect">
            <a:avLst/>
          </a:prstGeom>
          <a:solidFill>
            <a:srgbClr val="141C2C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029200" y="1371600"/>
            <a:ext cx="457200" cy="457200"/>
          </a:xfrm>
          <a:prstGeom prst="ellipse">
            <a:avLst/>
          </a:prstGeom>
          <a:solidFill>
            <a:srgbClr val="22C55E">
              <a:alpha val="20000"/>
            </a:srgbClr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623560" y="138988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DDG Uniquely Owns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5029200" y="201168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privacy brand in tech</a:t>
            </a:r>
            <a:endParaRPr lang="en-US" sz="13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80M+ users who chose privacy</a:t>
            </a:r>
            <a:endParaRPr lang="en-US" sz="13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Zero-retention infrastructure in production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provider contracts (OpenAI, Anthropic, Meta)</a:t>
            </a:r>
            <a:endParaRPr lang="en-US" sz="1300" dirty="0"/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$9.99/$19.99 subscription billing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828800" y="4709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58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Shield AI = Platform Depth + Privacy Trust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Five Platform Pillars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Shield AI delivers beyond Duck.ai chat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7863840" cy="594360"/>
          </a:xfrm>
          <a:prstGeom prst="rect">
            <a:avLst/>
          </a:prstGeom>
          <a:solidFill>
            <a:srgbClr val="141C2C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417320"/>
            <a:ext cx="54864" cy="594360"/>
          </a:xfrm>
          <a:prstGeom prst="rect">
            <a:avLst/>
          </a:prstGeom>
          <a:solidFill>
            <a:srgbClr val="DE5833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1490472"/>
            <a:ext cx="438912" cy="438912"/>
          </a:xfrm>
          <a:prstGeom prst="ellipse">
            <a:avLst/>
          </a:prstGeom>
          <a:solidFill>
            <a:srgbClr val="DE5833">
              <a:alpha val="20000"/>
            </a:srgbClr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2182" y="1578254"/>
            <a:ext cx="263347" cy="2633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1463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Router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508760" y="17373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 models via LiteLLM (self-hosted) + custom auto-route intelligence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583680" y="15727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RETENTION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640080" y="2130552"/>
            <a:ext cx="7863840" cy="594360"/>
          </a:xfrm>
          <a:prstGeom prst="rect">
            <a:avLst/>
          </a:prstGeom>
          <a:solidFill>
            <a:srgbClr val="141C2C"/>
          </a:solidFill>
          <a:ln/>
        </p:spPr>
      </p:sp>
      <p:sp>
        <p:nvSpPr>
          <p:cNvPr id="12" name="Shape 9"/>
          <p:cNvSpPr/>
          <p:nvPr/>
        </p:nvSpPr>
        <p:spPr>
          <a:xfrm>
            <a:off x="640080" y="2130552"/>
            <a:ext cx="54864" cy="59436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3" name="Shape 10"/>
          <p:cNvSpPr/>
          <p:nvPr/>
        </p:nvSpPr>
        <p:spPr>
          <a:xfrm>
            <a:off x="914400" y="2203704"/>
            <a:ext cx="438912" cy="438912"/>
          </a:xfrm>
          <a:prstGeom prst="ellipse">
            <a:avLst/>
          </a:prstGeom>
          <a:solidFill>
            <a:srgbClr val="8B5CF6">
              <a:alpha val="20000"/>
            </a:srgbClr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182" y="2291486"/>
            <a:ext cx="263347" cy="26334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508760" y="21762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1508760" y="245059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workflows via LangGraph (self-hosted) + 6 custom agents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583680" y="22860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RETENTION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640080" y="2843784"/>
            <a:ext cx="7863840" cy="594360"/>
          </a:xfrm>
          <a:prstGeom prst="rect">
            <a:avLst/>
          </a:prstGeom>
          <a:solidFill>
            <a:srgbClr val="141C2C"/>
          </a:solidFill>
          <a:ln/>
        </p:spPr>
      </p:sp>
      <p:sp>
        <p:nvSpPr>
          <p:cNvPr id="19" name="Shape 15"/>
          <p:cNvSpPr/>
          <p:nvPr/>
        </p:nvSpPr>
        <p:spPr>
          <a:xfrm>
            <a:off x="640080" y="2843784"/>
            <a:ext cx="54864" cy="59436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0" name="Shape 16"/>
          <p:cNvSpPr/>
          <p:nvPr/>
        </p:nvSpPr>
        <p:spPr>
          <a:xfrm>
            <a:off x="914400" y="2916936"/>
            <a:ext cx="438912" cy="438912"/>
          </a:xfrm>
          <a:prstGeom prst="ellipse">
            <a:avLst/>
          </a:prstGeom>
          <a:solidFill>
            <a:srgbClr val="22C55E">
              <a:alpha val="20000"/>
            </a:srgbClr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182" y="3004718"/>
            <a:ext cx="263347" cy="263347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508760" y="28895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 Sandbox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1508760" y="3163824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Ephemeral Firecracker microVMs via E2B + zero-persistence policy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6583680" y="29992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RETENTION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640080" y="3557016"/>
            <a:ext cx="7863840" cy="594360"/>
          </a:xfrm>
          <a:prstGeom prst="rect">
            <a:avLst/>
          </a:prstGeom>
          <a:solidFill>
            <a:srgbClr val="141C2C"/>
          </a:solidFill>
          <a:ln/>
        </p:spPr>
      </p:sp>
      <p:sp>
        <p:nvSpPr>
          <p:cNvPr id="26" name="Shape 21"/>
          <p:cNvSpPr/>
          <p:nvPr/>
        </p:nvSpPr>
        <p:spPr>
          <a:xfrm>
            <a:off x="640080" y="3557016"/>
            <a:ext cx="54864" cy="5943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7" name="Shape 22"/>
          <p:cNvSpPr/>
          <p:nvPr/>
        </p:nvSpPr>
        <p:spPr>
          <a:xfrm>
            <a:off x="914400" y="3630168"/>
            <a:ext cx="438912" cy="438912"/>
          </a:xfrm>
          <a:prstGeom prst="ellipse">
            <a:avLst/>
          </a:prstGeom>
          <a:solidFill>
            <a:srgbClr val="3B82F6">
              <a:alpha val="20000"/>
            </a:srgbClr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2182" y="3717950"/>
            <a:ext cx="263347" cy="263347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508760" y="36027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 Generator</a:t>
            </a:r>
            <a:endParaRPr lang="en-US" sz="1600" dirty="0"/>
          </a:p>
        </p:txBody>
      </p:sp>
      <p:sp>
        <p:nvSpPr>
          <p:cNvPr id="30" name="Text 24"/>
          <p:cNvSpPr/>
          <p:nvPr/>
        </p:nvSpPr>
        <p:spPr>
          <a:xfrm>
            <a:off x="1508760" y="38770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Reports, decks, summaries via open-source rendering libraries</a:t>
            </a:r>
            <a:endParaRPr lang="en-US" sz="1200" dirty="0"/>
          </a:p>
        </p:txBody>
      </p:sp>
      <p:sp>
        <p:nvSpPr>
          <p:cNvPr id="31" name="Text 25"/>
          <p:cNvSpPr/>
          <p:nvPr/>
        </p:nvSpPr>
        <p:spPr>
          <a:xfrm>
            <a:off x="6583680" y="371246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RETENTION</a:t>
            </a:r>
            <a:endParaRPr lang="en-US" sz="900" dirty="0"/>
          </a:p>
        </p:txBody>
      </p:sp>
      <p:sp>
        <p:nvSpPr>
          <p:cNvPr id="32" name="Shape 26"/>
          <p:cNvSpPr/>
          <p:nvPr/>
        </p:nvSpPr>
        <p:spPr>
          <a:xfrm>
            <a:off x="640080" y="4270248"/>
            <a:ext cx="7863840" cy="594360"/>
          </a:xfrm>
          <a:prstGeom prst="rect">
            <a:avLst/>
          </a:prstGeom>
          <a:solidFill>
            <a:srgbClr val="141C2C"/>
          </a:solidFill>
          <a:ln/>
        </p:spPr>
      </p:sp>
      <p:sp>
        <p:nvSpPr>
          <p:cNvPr id="33" name="Shape 27"/>
          <p:cNvSpPr/>
          <p:nvPr/>
        </p:nvSpPr>
        <p:spPr>
          <a:xfrm>
            <a:off x="640080" y="4270248"/>
            <a:ext cx="54864" cy="5943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4" name="Shape 28"/>
          <p:cNvSpPr/>
          <p:nvPr/>
        </p:nvSpPr>
        <p:spPr>
          <a:xfrm>
            <a:off x="914400" y="4343400"/>
            <a:ext cx="438912" cy="438912"/>
          </a:xfrm>
          <a:prstGeom prst="ellipse">
            <a:avLst/>
          </a:prstGeom>
          <a:solidFill>
            <a:srgbClr val="06B6D4">
              <a:alpha val="20000"/>
            </a:srgbClr>
          </a:solidFill>
          <a:ln/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182" y="4431182"/>
            <a:ext cx="263347" cy="263347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1508760" y="43159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Integrations</a:t>
            </a:r>
            <a:endParaRPr lang="en-US" sz="1600" dirty="0"/>
          </a:p>
        </p:txBody>
      </p:sp>
      <p:sp>
        <p:nvSpPr>
          <p:cNvPr id="37" name="Text 30"/>
          <p:cNvSpPr/>
          <p:nvPr/>
        </p:nvSpPr>
        <p:spPr>
          <a:xfrm>
            <a:off x="1508760" y="45902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 tools via Nango (self-hosted) + Prisma AIRS security layer</a:t>
            </a:r>
            <a:endParaRPr lang="en-US" sz="1200" dirty="0"/>
          </a:p>
        </p:txBody>
      </p:sp>
      <p:sp>
        <p:nvSpPr>
          <p:cNvPr id="38" name="Text 31"/>
          <p:cNvSpPr/>
          <p:nvPr/>
        </p:nvSpPr>
        <p:spPr>
          <a:xfrm>
            <a:off x="6583680" y="442569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RETENTION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 Architecture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existing DDG tiers with new enterprise revenue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371600" cy="3291840"/>
          </a:xfrm>
          <a:prstGeom prst="rect">
            <a:avLst/>
          </a:prstGeom>
          <a:solidFill>
            <a:srgbClr val="141C2C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Shield Free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2402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$0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269748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77240" y="31089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models, basic chat, no account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121408" y="1371600"/>
            <a:ext cx="1371600" cy="3291840"/>
          </a:xfrm>
          <a:prstGeom prst="rect">
            <a:avLst/>
          </a:prstGeom>
          <a:solidFill>
            <a:srgbClr val="141C2C"/>
          </a:solidFill>
          <a:ln/>
        </p:spPr>
      </p:sp>
      <p:sp>
        <p:nvSpPr>
          <p:cNvPr id="11" name="Text 9"/>
          <p:cNvSpPr/>
          <p:nvPr/>
        </p:nvSpPr>
        <p:spPr>
          <a:xfrm>
            <a:off x="2212848" y="155448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212848" y="18288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Shield Plus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212848" y="22402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$9.99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212848" y="269748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258568" y="31089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models, voice, VPN bundle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02736" y="1371600"/>
            <a:ext cx="1371600" cy="3291840"/>
          </a:xfrm>
          <a:prstGeom prst="rect">
            <a:avLst/>
          </a:prstGeom>
          <a:solidFill>
            <a:srgbClr val="141C2C"/>
          </a:solidFill>
          <a:ln/>
        </p:spPr>
      </p:sp>
      <p:sp>
        <p:nvSpPr>
          <p:cNvPr id="17" name="Text 15"/>
          <p:cNvSpPr/>
          <p:nvPr/>
        </p:nvSpPr>
        <p:spPr>
          <a:xfrm>
            <a:off x="3694176" y="155448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694176" y="18288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Shield Pro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694176" y="22402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$19.99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3694176" y="269748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739896" y="31089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Opus, 2x limits, priority routing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84064" y="1371600"/>
            <a:ext cx="1874520" cy="3291840"/>
          </a:xfrm>
          <a:prstGeom prst="rect">
            <a:avLst/>
          </a:prstGeom>
          <a:solidFill>
            <a:srgbClr val="141C2C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084064" y="1371600"/>
            <a:ext cx="1874520" cy="54864"/>
          </a:xfrm>
          <a:prstGeom prst="rect">
            <a:avLst/>
          </a:prstGeom>
          <a:solidFill>
            <a:srgbClr val="DE5833"/>
          </a:solidFill>
          <a:ln/>
        </p:spPr>
      </p:sp>
      <p:sp>
        <p:nvSpPr>
          <p:cNvPr id="24" name="Text 22"/>
          <p:cNvSpPr/>
          <p:nvPr/>
        </p:nvSpPr>
        <p:spPr>
          <a:xfrm>
            <a:off x="5175504" y="155448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DE5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REVENUE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175504" y="18288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Shield Teams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175504" y="2240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E58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$29.99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5175504" y="269748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/user/mo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221224" y="310896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Agents, sandbox, integrations, SSO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068312" y="1371600"/>
            <a:ext cx="1874520" cy="3291840"/>
          </a:xfrm>
          <a:prstGeom prst="rect">
            <a:avLst/>
          </a:prstGeom>
          <a:solidFill>
            <a:srgbClr val="141C2C"/>
          </a:solidFill>
          <a:ln/>
        </p:spPr>
      </p:sp>
      <p:sp>
        <p:nvSpPr>
          <p:cNvPr id="30" name="Text 28"/>
          <p:cNvSpPr/>
          <p:nvPr/>
        </p:nvSpPr>
        <p:spPr>
          <a:xfrm>
            <a:off x="7159752" y="155448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REVENUE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159752" y="18288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Shield Enterprise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159752" y="2240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$5K+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7159752" y="269748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205472" y="3108960"/>
            <a:ext cx="1600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On-prem, HIPAA, custom models, SLA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Revenue Projections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09728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5943600" y="1188720"/>
            <a:ext cx="2743200" cy="960120"/>
          </a:xfrm>
          <a:prstGeom prst="rect">
            <a:avLst/>
          </a:prstGeom>
          <a:solidFill>
            <a:srgbClr val="141C2C"/>
          </a:solidFill>
          <a:ln/>
        </p:spPr>
      </p:sp>
      <p:sp>
        <p:nvSpPr>
          <p:cNvPr id="5" name="Text 2"/>
          <p:cNvSpPr/>
          <p:nvPr/>
        </p:nvSpPr>
        <p:spPr>
          <a:xfrm>
            <a:off x="6126480" y="126187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126480" y="1463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E58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$163M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126480" y="18288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1.6x current rev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943600" y="2331720"/>
            <a:ext cx="2743200" cy="960120"/>
          </a:xfrm>
          <a:prstGeom prst="rect">
            <a:avLst/>
          </a:prstGeom>
          <a:solidFill>
            <a:srgbClr val="141C2C"/>
          </a:solidFill>
          <a:ln/>
        </p:spPr>
      </p:sp>
      <p:sp>
        <p:nvSpPr>
          <p:cNvPr id="9" name="Text 6"/>
          <p:cNvSpPr/>
          <p:nvPr/>
        </p:nvSpPr>
        <p:spPr>
          <a:xfrm>
            <a:off x="6126480" y="240487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126480" y="2606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E58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$653M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6126480" y="29718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6.5x current rev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0" y="3474720"/>
            <a:ext cx="2743200" cy="960120"/>
          </a:xfrm>
          <a:prstGeom prst="rect">
            <a:avLst/>
          </a:prstGeom>
          <a:solidFill>
            <a:srgbClr val="141C2C"/>
          </a:solidFill>
          <a:ln/>
        </p:spPr>
      </p:sp>
      <p:sp>
        <p:nvSpPr>
          <p:cNvPr id="13" name="Text 10"/>
          <p:cNvSpPr/>
          <p:nvPr/>
        </p:nvSpPr>
        <p:spPr>
          <a:xfrm>
            <a:off x="6126480" y="354787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Aggressive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126480" y="3749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E58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$1.63B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126480" y="41148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16x current rev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Competitive Landscape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1463040"/>
                <a:gridCol w="1463040"/>
                <a:gridCol w="16459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Abacus AI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E58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Shield AI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5833">
                        <a:alpha val="30000"/>
                      </a:srgbClr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Multi-Model Access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(GPT)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(Gemini)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Autonomous Agents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Sandbox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Integrations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Privacy Architecture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Retention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PII Stripping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HIPAA/SOC2 Ready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C2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(Teams)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$10/mo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$20/mo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1F5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$19.99/mo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$29.99/mo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28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52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Cost vs. Opportunity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3749040" cy="3474720"/>
          </a:xfrm>
          <a:prstGeom prst="rect">
            <a:avLst/>
          </a:prstGeom>
          <a:solidFill>
            <a:srgbClr val="141C2C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417320"/>
            <a:ext cx="457200" cy="457200"/>
          </a:xfrm>
          <a:prstGeom prst="ellipse">
            <a:avLst/>
          </a:prstGeom>
          <a:solidFill>
            <a:srgbClr val="3B82F6">
              <a:alpha val="20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5087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4447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Shield AI v1 Cost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14400" y="20116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E58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$1.5–3M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2560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10-person team, 6 months (70% bought)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14400" y="301752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0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Backend (auto-route, agents, integration wiring)</a:t>
            </a:r>
            <a:endParaRPr lang="en-US" sz="1000" dirty="0"/>
          </a:p>
          <a:p>
            <a:pPr marL="342900" indent="-342900">
              <a:lnSpc>
                <a:spcPct val="140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Frontend (web, mobile, browser extension)</a:t>
            </a:r>
            <a:endParaRPr lang="en-US" sz="1000" dirty="0"/>
          </a:p>
          <a:p>
            <a:pPr marL="342900" indent="-342900">
              <a:lnSpc>
                <a:spcPct val="140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DevOps (self-hosted stack, ephemeral compute)</a:t>
            </a:r>
            <a:endParaRPr lang="en-US" sz="1000" dirty="0"/>
          </a:p>
          <a:p>
            <a:pPr marL="342900" indent="-342900">
              <a:lnSpc>
                <a:spcPct val="140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Security/Compliance Lead</a:t>
            </a:r>
            <a:endParaRPr lang="en-US" sz="1000" dirty="0"/>
          </a:p>
          <a:p>
            <a:pPr marL="342900" indent="-342900">
              <a:lnSpc>
                <a:spcPct val="140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Product Designer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754880" y="1188720"/>
            <a:ext cx="3749040" cy="3474720"/>
          </a:xfrm>
          <a:prstGeom prst="rect">
            <a:avLst/>
          </a:prstGeom>
          <a:solidFill>
            <a:srgbClr val="141C2C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029200" y="1417320"/>
            <a:ext cx="457200" cy="457200"/>
          </a:xfrm>
          <a:prstGeom prst="ellipse">
            <a:avLst/>
          </a:prstGeom>
          <a:solidFill>
            <a:srgbClr val="22C55E">
              <a:alpha val="20000"/>
            </a:srgbClr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50876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623560" y="14447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Bought &amp; Self-Hosted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5029200" y="1920240"/>
            <a:ext cx="3200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LiteLLM — model routing (open source)</a:t>
            </a:r>
            <a:endParaRPr lang="en-US" sz="1000" dirty="0"/>
          </a:p>
          <a:p>
            <a:pPr marL="342900" indent="-342900">
              <a:lnSpc>
                <a:spcPct val="130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— agent orchestration (open source)</a:t>
            </a:r>
            <a:endParaRPr lang="en-US" sz="1000" dirty="0"/>
          </a:p>
          <a:p>
            <a:pPr marL="342900" indent="-342900">
              <a:lnSpc>
                <a:spcPct val="130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E2B / Firecracker — code sandbox</a:t>
            </a:r>
            <a:endParaRPr lang="en-US" sz="1000" dirty="0"/>
          </a:p>
          <a:p>
            <a:pPr marL="342900" indent="-342900">
              <a:lnSpc>
                <a:spcPct val="130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Nango — 250+ integrations (open source)</a:t>
            </a:r>
            <a:endParaRPr lang="en-US" sz="1000" dirty="0"/>
          </a:p>
          <a:p>
            <a:pPr marL="342900" indent="-342900">
              <a:lnSpc>
                <a:spcPct val="130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Langfuse — observability (open source)</a:t>
            </a:r>
            <a:endParaRPr lang="en-US" sz="1000" dirty="0"/>
          </a:p>
          <a:p>
            <a:pPr marL="342900" indent="-342900">
              <a:lnSpc>
                <a:spcPct val="130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Qdrant — vector store (open source)</a:t>
            </a:r>
            <a:endParaRPr lang="en-US" sz="1000" dirty="0"/>
          </a:p>
          <a:p>
            <a:pPr marL="342900" indent="-342900">
              <a:lnSpc>
                <a:spcPct val="130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AI → Prisma AIRS (security)</a:t>
            </a:r>
            <a:endParaRPr lang="en-US" sz="1000" dirty="0"/>
          </a:p>
          <a:p>
            <a:pPr marL="342900" indent="-342900">
              <a:lnSpc>
                <a:spcPct val="130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WorkOS + Vanta (auth + compliance)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5029200" y="4114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E87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Abacus raised $113M to build from scratch. Shield AI buys 70% open source, self-hosts for privacy. Vendor cost: ~$12–25K/mo.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12-Month Roadmap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51560" y="1143000"/>
            <a:ext cx="36576" cy="960120"/>
          </a:xfrm>
          <a:prstGeom prst="rect">
            <a:avLst/>
          </a:prstGeom>
          <a:solidFill>
            <a:srgbClr val="1C2840"/>
          </a:solidFill>
          <a:ln/>
        </p:spPr>
      </p:sp>
      <p:sp>
        <p:nvSpPr>
          <p:cNvPr id="4" name="Shape 2"/>
          <p:cNvSpPr/>
          <p:nvPr/>
        </p:nvSpPr>
        <p:spPr>
          <a:xfrm>
            <a:off x="896112" y="1307592"/>
            <a:ext cx="347472" cy="347472"/>
          </a:xfrm>
          <a:prstGeom prst="ellipse">
            <a:avLst/>
          </a:prstGeom>
          <a:solidFill>
            <a:srgbClr val="DE583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371600"/>
            <a:ext cx="219456" cy="21945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554480" y="1143000"/>
            <a:ext cx="6858000" cy="777240"/>
          </a:xfrm>
          <a:prstGeom prst="rect">
            <a:avLst/>
          </a:prstGeom>
          <a:solidFill>
            <a:srgbClr val="141C2C"/>
          </a:solidFill>
          <a:ln/>
        </p:spPr>
      </p:sp>
      <p:sp>
        <p:nvSpPr>
          <p:cNvPr id="7" name="Shape 4"/>
          <p:cNvSpPr/>
          <p:nvPr/>
        </p:nvSpPr>
        <p:spPr>
          <a:xfrm>
            <a:off x="1554480" y="1143000"/>
            <a:ext cx="45720" cy="777240"/>
          </a:xfrm>
          <a:prstGeom prst="rect">
            <a:avLst/>
          </a:prstGeom>
          <a:solidFill>
            <a:srgbClr val="DE5833"/>
          </a:solidFill>
          <a:ln/>
        </p:spPr>
      </p:sp>
      <p:sp>
        <p:nvSpPr>
          <p:cNvPr id="8" name="Text 5"/>
          <p:cNvSpPr/>
          <p:nvPr/>
        </p:nvSpPr>
        <p:spPr>
          <a:xfrm>
            <a:off x="1783080" y="12161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E5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1–3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108960" y="11887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Foundation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783080" y="14630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LiteLLM + LangGraph + Guardrails AI + Langfuse + Qdrant. Ship beta to 1K users. Auto-route + 2 agents. ~$6.5K/mo vendor.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051560" y="2103120"/>
            <a:ext cx="36576" cy="960120"/>
          </a:xfrm>
          <a:prstGeom prst="rect">
            <a:avLst/>
          </a:prstGeom>
          <a:solidFill>
            <a:srgbClr val="1C2840"/>
          </a:solidFill>
          <a:ln/>
        </p:spPr>
      </p:sp>
      <p:sp>
        <p:nvSpPr>
          <p:cNvPr id="12" name="Shape 9"/>
          <p:cNvSpPr/>
          <p:nvPr/>
        </p:nvSpPr>
        <p:spPr>
          <a:xfrm>
            <a:off x="896112" y="2267712"/>
            <a:ext cx="347472" cy="347472"/>
          </a:xfrm>
          <a:prstGeom prst="ellipse">
            <a:avLst/>
          </a:prstGeom>
          <a:solidFill>
            <a:srgbClr val="3B82F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331720"/>
            <a:ext cx="219456" cy="219456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1554480" y="2103120"/>
            <a:ext cx="6858000" cy="777240"/>
          </a:xfrm>
          <a:prstGeom prst="rect">
            <a:avLst/>
          </a:prstGeom>
          <a:solidFill>
            <a:srgbClr val="141C2C"/>
          </a:solidFill>
          <a:ln/>
        </p:spPr>
      </p:sp>
      <p:sp>
        <p:nvSpPr>
          <p:cNvPr id="15" name="Shape 11"/>
          <p:cNvSpPr/>
          <p:nvPr/>
        </p:nvSpPr>
        <p:spPr>
          <a:xfrm>
            <a:off x="1554480" y="2103120"/>
            <a:ext cx="45720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6" name="Text 12"/>
          <p:cNvSpPr/>
          <p:nvPr/>
        </p:nvSpPr>
        <p:spPr>
          <a:xfrm>
            <a:off x="1783080" y="217627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4–6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108960" y="2148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Platform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1783080" y="24231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E2B sandbox, Nango integrations, WorkOS auth. 10K users. Full agent suite + team workspaces. ~$12K/mo vendor.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1051560" y="3063240"/>
            <a:ext cx="36576" cy="960120"/>
          </a:xfrm>
          <a:prstGeom prst="rect">
            <a:avLst/>
          </a:prstGeom>
          <a:solidFill>
            <a:srgbClr val="1C2840"/>
          </a:solidFill>
          <a:ln/>
        </p:spPr>
      </p:sp>
      <p:sp>
        <p:nvSpPr>
          <p:cNvPr id="20" name="Shape 16"/>
          <p:cNvSpPr/>
          <p:nvPr/>
        </p:nvSpPr>
        <p:spPr>
          <a:xfrm>
            <a:off x="896112" y="3227832"/>
            <a:ext cx="347472" cy="347472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291840"/>
            <a:ext cx="219456" cy="219456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1554480" y="3063240"/>
            <a:ext cx="6858000" cy="777240"/>
          </a:xfrm>
          <a:prstGeom prst="rect">
            <a:avLst/>
          </a:prstGeom>
          <a:solidFill>
            <a:srgbClr val="141C2C"/>
          </a:solidFill>
          <a:ln/>
        </p:spPr>
      </p:sp>
      <p:sp>
        <p:nvSpPr>
          <p:cNvPr id="23" name="Shape 18"/>
          <p:cNvSpPr/>
          <p:nvPr/>
        </p:nvSpPr>
        <p:spPr>
          <a:xfrm>
            <a:off x="1554480" y="3063240"/>
            <a:ext cx="45720" cy="7772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4" name="Text 19"/>
          <p:cNvSpPr/>
          <p:nvPr/>
        </p:nvSpPr>
        <p:spPr>
          <a:xfrm>
            <a:off x="1783080" y="313639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7–9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3108960" y="31089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Enterprise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1783080" y="33832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 to Prisma AIRS + Vanta. SOC2/HIPAA cert. On-prem deployment. Enterprise sales launch. ~$20K/mo vendor.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1051560" y="4023360"/>
            <a:ext cx="36576" cy="777240"/>
          </a:xfrm>
          <a:prstGeom prst="rect">
            <a:avLst/>
          </a:prstGeom>
          <a:solidFill>
            <a:srgbClr val="1C2840"/>
          </a:solidFill>
          <a:ln/>
        </p:spPr>
      </p:sp>
      <p:sp>
        <p:nvSpPr>
          <p:cNvPr id="28" name="Shape 23"/>
          <p:cNvSpPr/>
          <p:nvPr/>
        </p:nvSpPr>
        <p:spPr>
          <a:xfrm>
            <a:off x="896112" y="4187952"/>
            <a:ext cx="347472" cy="347472"/>
          </a:xfrm>
          <a:prstGeom prst="ellipse">
            <a:avLst/>
          </a:prstGeom>
          <a:solidFill>
            <a:srgbClr val="22C55E"/>
          </a:solidFill>
          <a:ln/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19456" cy="219456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1554480" y="4023360"/>
            <a:ext cx="6858000" cy="777240"/>
          </a:xfrm>
          <a:prstGeom prst="rect">
            <a:avLst/>
          </a:prstGeom>
          <a:solidFill>
            <a:srgbClr val="141C2C"/>
          </a:solidFill>
          <a:ln/>
        </p:spPr>
      </p:sp>
      <p:sp>
        <p:nvSpPr>
          <p:cNvPr id="31" name="Shape 25"/>
          <p:cNvSpPr/>
          <p:nvPr/>
        </p:nvSpPr>
        <p:spPr>
          <a:xfrm>
            <a:off x="1554480" y="4023360"/>
            <a:ext cx="45720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2" name="Text 26"/>
          <p:cNvSpPr/>
          <p:nvPr/>
        </p:nvSpPr>
        <p:spPr>
          <a:xfrm>
            <a:off x="1783080" y="409651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10–12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3108960" y="40690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Scale</a:t>
            </a:r>
            <a:endParaRPr lang="en-US" sz="1500" dirty="0"/>
          </a:p>
        </p:txBody>
      </p:sp>
      <p:sp>
        <p:nvSpPr>
          <p:cNvPr id="34" name="Text 28"/>
          <p:cNvSpPr/>
          <p:nvPr/>
        </p:nvSpPr>
        <p:spPr>
          <a:xfrm>
            <a:off x="1783080" y="43434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100K+ teams. Developer API, agent marketplace, international compliance. Self-host Firecracker at scale.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0" y="0"/>
            <a:ext cx="4572000" cy="4572000"/>
          </a:xfrm>
          <a:prstGeom prst="ellipse">
            <a:avLst/>
          </a:prstGeom>
          <a:solidFill>
            <a:srgbClr val="DE5833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794760" y="914400"/>
            <a:ext cx="731520" cy="731520"/>
          </a:xfrm>
          <a:prstGeom prst="ellipse">
            <a:avLst/>
          </a:prstGeom>
          <a:solidFill>
            <a:srgbClr val="DE5833">
              <a:alpha val="20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41064" y="1060704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8288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Bottom Line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1371600" y="26060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Shield AI transforms DuckDuckGo from a </a:t>
            </a:r>
            <a:pPr algn="ctr" indent="0" marL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$100M search company</a:t>
            </a:r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a </a:t>
            </a:r>
            <a:pPr algn="ctr" indent="0" marL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DE5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$1B+ AI platform company</a:t>
            </a:r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without compromising the privacy principles that built the brand.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828800" y="36576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6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Investment: $1.5–3M</a:t>
            </a:r>
            <a:endParaRPr lang="en-US" sz="1300" dirty="0"/>
          </a:p>
          <a:p>
            <a:pPr algn="ctr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Conservative: $163M ARR  |  Moderate: $653M ARR  |  Validated before build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14400" y="4663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•  SHIELD AI  •  PREPARED FOR DUCKDUCKGO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Shield AI — Pricing Model &amp; ROI Proposal for DuckDuckGo</dc:title>
  <dc:subject>PptxGenJS Presentation</dc:subject>
  <dc:creator>Shield AI</dc:creator>
  <cp:lastModifiedBy>Shield AI</cp:lastModifiedBy>
  <cp:revision>1</cp:revision>
  <dcterms:created xsi:type="dcterms:W3CDTF">2026-05-27T04:24:39Z</dcterms:created>
  <dcterms:modified xsi:type="dcterms:W3CDTF">2026-05-27T04:24:39Z</dcterms:modified>
</cp:coreProperties>
</file>